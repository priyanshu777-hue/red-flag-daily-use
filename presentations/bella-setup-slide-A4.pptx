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2079" cy="7560259"/>
  <p:notesSz cx="7560259" cy="1069207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nboarding" id="{fccbe4e8-c656-6bd1-deab-fc8eec662d32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 is done. Add bella@redflaghomes.in as co-host, give full access, send the invite, and you're set.
Why full access: Bella needs full permissions so she can reply to guests, change prices, block your calendar and update your listing without waiting for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lla Dark">
    <p:bg>
      <p:bgPr>
        <a:solidFill>
          <a:srgbClr val="0B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457200"/>
            <a:ext cx="9686239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Title</a:t>
            </a: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457200"/>
            <a:ext cx="96862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Payment done. Now let Bella take over.</a:t>
            </a:r>
            <a:endParaRPr lang="en-US" sz="4000" dirty="0"/>
          </a:p>
        </p:txBody>
      </p:sp>
      <p:sp>
        <p:nvSpPr>
          <p:cNvPr id="3" name="Divider 1-2"/>
          <p:cNvSpPr/>
          <p:nvPr/>
        </p:nvSpPr>
        <p:spPr>
          <a:xfrm>
            <a:off x="2715768" y="1600200"/>
            <a:ext cx="0" cy="512064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4" name="Divider 2-3"/>
          <p:cNvSpPr/>
          <p:nvPr/>
        </p:nvSpPr>
        <p:spPr>
          <a:xfrm>
            <a:off x="7473391" y="1600200"/>
            <a:ext cx="0" cy="512064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5" name="Step 1 number"/>
          <p:cNvSpPr txBox="1"/>
          <p:nvPr/>
        </p:nvSpPr>
        <p:spPr>
          <a:xfrm>
            <a:off x="502920" y="15544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chemeClr val="accent1"/>
                </a:solidFill>
              </a:rPr>
              <a:t>1</a:t>
            </a:r>
            <a:endParaRPr lang="en-US" sz="5200" dirty="0"/>
          </a:p>
        </p:txBody>
      </p:sp>
      <p:sp>
        <p:nvSpPr>
          <p:cNvPr id="6" name="Step 1 heading"/>
          <p:cNvSpPr txBox="1"/>
          <p:nvPr/>
        </p:nvSpPr>
        <p:spPr>
          <a:xfrm>
            <a:off x="502920" y="2377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Payment done</a:t>
            </a:r>
            <a:endParaRPr lang="en-US" sz="2200" dirty="0"/>
          </a:p>
        </p:txBody>
      </p:sp>
      <p:sp>
        <p:nvSpPr>
          <p:cNvPr id="7" name="Step 1 body"/>
          <p:cNvSpPr txBox="1"/>
          <p:nvPr/>
        </p:nvSpPr>
        <p:spPr>
          <a:xfrm>
            <a:off x="502920" y="3017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Your Bella subscription is active.</a:t>
            </a:r>
            <a:endParaRPr lang="en-US" sz="1400" dirty="0"/>
          </a:p>
        </p:txBody>
      </p:sp>
      <p:sp>
        <p:nvSpPr>
          <p:cNvPr id="8" name="Tick ring"/>
          <p:cNvSpPr/>
          <p:nvPr/>
        </p:nvSpPr>
        <p:spPr>
          <a:xfrm>
            <a:off x="685800" y="4572000"/>
            <a:ext cx="1645920" cy="1645920"/>
          </a:xfrm>
          <a:prstGeom prst="ellipse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9" name="Gold ti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4942332"/>
            <a:ext cx="905256" cy="905256"/>
          </a:xfrm>
          <a:prstGeom prst="rect">
            <a:avLst/>
          </a:prstGeom>
        </p:spPr>
      </p:pic>
      <p:sp>
        <p:nvSpPr>
          <p:cNvPr id="10" name="Step 2 number"/>
          <p:cNvSpPr txBox="1"/>
          <p:nvPr/>
        </p:nvSpPr>
        <p:spPr>
          <a:xfrm>
            <a:off x="2916936" y="15544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chemeClr val="accent1"/>
                </a:solidFill>
              </a:rPr>
              <a:t>2</a:t>
            </a:r>
            <a:endParaRPr lang="en-US" sz="5200" dirty="0"/>
          </a:p>
        </p:txBody>
      </p:sp>
      <p:sp>
        <p:nvSpPr>
          <p:cNvPr id="11" name="Step 2 heading"/>
          <p:cNvSpPr txBox="1"/>
          <p:nvPr/>
        </p:nvSpPr>
        <p:spPr>
          <a:xfrm>
            <a:off x="2916936" y="2377440"/>
            <a:ext cx="43552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Add Bella as co-host on Airbnb</a:t>
            </a:r>
            <a:endParaRPr lang="en-US" sz="2200" dirty="0"/>
          </a:p>
        </p:txBody>
      </p:sp>
      <p:sp>
        <p:nvSpPr>
          <p:cNvPr id="12" name="Step 2 body"/>
          <p:cNvSpPr txBox="1"/>
          <p:nvPr/>
        </p:nvSpPr>
        <p:spPr>
          <a:xfrm>
            <a:off x="2916936" y="3017520"/>
            <a:ext cx="435528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chemeClr val="bg1"/>
                </a:solidFill>
              </a:rPr>
              <a:t>Invite </a:t>
            </a:r>
            <a:pPr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chemeClr val="accent1"/>
                </a:solidFill>
              </a:rPr>
              <a:t>bella@redflaghomes.in</a:t>
            </a:r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chemeClr val="bg1"/>
                </a:solidFill>
              </a:rPr>
              <a:t> as a co-host on your listing.</a:t>
            </a:r>
            <a:endParaRPr lang="en-US" sz="14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chemeClr val="bg2"/>
                </a:solidFill>
              </a:rPr>
              <a:t>Have more than one listing? Repeat for each listing on your plan.</a:t>
            </a:r>
            <a:endParaRPr lang="en-US" sz="1400" dirty="0"/>
          </a:p>
        </p:txBody>
      </p:sp>
      <p:sp>
        <p:nvSpPr>
          <p:cNvPr id="13" name="Phone body"/>
          <p:cNvSpPr/>
          <p:nvPr/>
        </p:nvSpPr>
        <p:spPr>
          <a:xfrm>
            <a:off x="2916936" y="4114800"/>
            <a:ext cx="1645920" cy="2240280"/>
          </a:xfrm>
          <a:prstGeom prst="roundRect">
            <a:avLst>
              <a:gd name="adj" fmla="val 12222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hone notch"/>
          <p:cNvSpPr/>
          <p:nvPr/>
        </p:nvSpPr>
        <p:spPr>
          <a:xfrm>
            <a:off x="3511296" y="4206240"/>
            <a:ext cx="457200" cy="7315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pic>
        <p:nvPicPr>
          <p:cNvPr id="15" name="Phone back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4352544"/>
            <a:ext cx="146304" cy="146304"/>
          </a:xfrm>
          <a:prstGeom prst="rect">
            <a:avLst/>
          </a:prstGeom>
        </p:spPr>
      </p:pic>
      <p:sp>
        <p:nvSpPr>
          <p:cNvPr id="16" name="Phone screen title"/>
          <p:cNvSpPr txBox="1"/>
          <p:nvPr/>
        </p:nvSpPr>
        <p:spPr>
          <a:xfrm>
            <a:off x="3044952" y="453542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Permissions</a:t>
            </a:r>
            <a:endParaRPr lang="en-US" sz="1100" dirty="0"/>
          </a:p>
        </p:txBody>
      </p:sp>
      <p:sp>
        <p:nvSpPr>
          <p:cNvPr id="17" name="Option Full access"/>
          <p:cNvSpPr/>
          <p:nvPr/>
        </p:nvSpPr>
        <p:spPr>
          <a:xfrm>
            <a:off x="3044952" y="4846320"/>
            <a:ext cx="1389888" cy="292608"/>
          </a:xfrm>
          <a:prstGeom prst="roundRect">
            <a:avLst>
              <a:gd name="adj" fmla="val 18750"/>
            </a:avLst>
          </a:prstGeom>
          <a:solidFill>
            <a:schemeClr val="accent1">
              <a:alpha val="1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8" name="Option label Full access"/>
          <p:cNvSpPr txBox="1"/>
          <p:nvPr/>
        </p:nvSpPr>
        <p:spPr>
          <a:xfrm>
            <a:off x="3136392" y="484632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Full access</a:t>
            </a:r>
            <a:endParaRPr lang="en-US" sz="850" dirty="0"/>
          </a:p>
        </p:txBody>
      </p:sp>
      <p:sp>
        <p:nvSpPr>
          <p:cNvPr id="19" name="Radio Full access"/>
          <p:cNvSpPr/>
          <p:nvPr/>
        </p:nvSpPr>
        <p:spPr>
          <a:xfrm>
            <a:off x="4215384" y="4928616"/>
            <a:ext cx="128016" cy="12801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0" name="Option Calendar and inbox"/>
          <p:cNvSpPr/>
          <p:nvPr/>
        </p:nvSpPr>
        <p:spPr>
          <a:xfrm>
            <a:off x="3044952" y="5193792"/>
            <a:ext cx="1389888" cy="292608"/>
          </a:xfrm>
          <a:prstGeom prst="roundRect">
            <a:avLst>
              <a:gd name="adj" fmla="val 18750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1" name="Option label Calendar and inbox"/>
          <p:cNvSpPr txBox="1"/>
          <p:nvPr/>
        </p:nvSpPr>
        <p:spPr>
          <a:xfrm>
            <a:off x="3136392" y="51937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</a:rPr>
              <a:t>Calendar and inbox</a:t>
            </a:r>
            <a:endParaRPr lang="en-US" sz="850" dirty="0"/>
          </a:p>
        </p:txBody>
      </p:sp>
      <p:sp>
        <p:nvSpPr>
          <p:cNvPr id="22" name="Radio Calendar and inbox"/>
          <p:cNvSpPr/>
          <p:nvPr/>
        </p:nvSpPr>
        <p:spPr>
          <a:xfrm>
            <a:off x="4215384" y="5276088"/>
            <a:ext cx="128016" cy="128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3" name="Option Calendar only"/>
          <p:cNvSpPr/>
          <p:nvPr/>
        </p:nvSpPr>
        <p:spPr>
          <a:xfrm>
            <a:off x="3044952" y="5541264"/>
            <a:ext cx="1389888" cy="292608"/>
          </a:xfrm>
          <a:prstGeom prst="roundRect">
            <a:avLst>
              <a:gd name="adj" fmla="val 18750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4" name="Option label Calendar only"/>
          <p:cNvSpPr txBox="1"/>
          <p:nvPr/>
        </p:nvSpPr>
        <p:spPr>
          <a:xfrm>
            <a:off x="3136392" y="554126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</a:rPr>
              <a:t>Calendar only</a:t>
            </a:r>
            <a:endParaRPr lang="en-US" sz="850" dirty="0"/>
          </a:p>
        </p:txBody>
      </p:sp>
      <p:sp>
        <p:nvSpPr>
          <p:cNvPr id="25" name="Radio Calendar only"/>
          <p:cNvSpPr/>
          <p:nvPr/>
        </p:nvSpPr>
        <p:spPr>
          <a:xfrm>
            <a:off x="4215384" y="5623560"/>
            <a:ext cx="128016" cy="12801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6" name="Phone next button"/>
          <p:cNvSpPr/>
          <p:nvPr/>
        </p:nvSpPr>
        <p:spPr>
          <a:xfrm>
            <a:off x="3044952" y="5925312"/>
            <a:ext cx="1389888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7" name="Phone next label"/>
          <p:cNvSpPr txBox="1"/>
          <p:nvPr/>
        </p:nvSpPr>
        <p:spPr>
          <a:xfrm>
            <a:off x="3044952" y="59253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Next</a:t>
            </a:r>
            <a:endParaRPr lang="en-US" sz="900" dirty="0"/>
          </a:p>
        </p:txBody>
      </p:sp>
      <p:sp>
        <p:nvSpPr>
          <p:cNvPr id="28" name="Sub-step marker 1"/>
          <p:cNvSpPr txBox="1"/>
          <p:nvPr/>
        </p:nvSpPr>
        <p:spPr>
          <a:xfrm>
            <a:off x="4745736" y="4114800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</a:t>
            </a:r>
            <a:endParaRPr lang="en-US" sz="1500" dirty="0"/>
          </a:p>
        </p:txBody>
      </p:sp>
      <p:sp>
        <p:nvSpPr>
          <p:cNvPr id="29" name="Sub-step 1"/>
          <p:cNvSpPr txBox="1"/>
          <p:nvPr/>
        </p:nvSpPr>
        <p:spPr>
          <a:xfrm>
            <a:off x="4992624" y="4114800"/>
            <a:ext cx="22338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Airbnb → Listings → select your listing</a:t>
            </a:r>
            <a:endParaRPr lang="en-US" sz="1100" dirty="0"/>
          </a:p>
        </p:txBody>
      </p:sp>
      <p:sp>
        <p:nvSpPr>
          <p:cNvPr id="30" name="Sub-step marker 2"/>
          <p:cNvSpPr txBox="1"/>
          <p:nvPr/>
        </p:nvSpPr>
        <p:spPr>
          <a:xfrm>
            <a:off x="4745736" y="4626864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</a:t>
            </a:r>
            <a:endParaRPr lang="en-US" sz="1500" dirty="0"/>
          </a:p>
        </p:txBody>
      </p:sp>
      <p:sp>
        <p:nvSpPr>
          <p:cNvPr id="31" name="Sub-step 2"/>
          <p:cNvSpPr txBox="1"/>
          <p:nvPr/>
        </p:nvSpPr>
        <p:spPr>
          <a:xfrm>
            <a:off x="4992624" y="4626864"/>
            <a:ext cx="22338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Scroll to </a:t>
            </a:r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Co-hosts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 → </a:t>
            </a:r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Invite a co-host</a:t>
            </a:r>
            <a:endParaRPr lang="en-US" sz="1100" dirty="0"/>
          </a:p>
        </p:txBody>
      </p:sp>
      <p:sp>
        <p:nvSpPr>
          <p:cNvPr id="32" name="Sub-step marker 3"/>
          <p:cNvSpPr txBox="1"/>
          <p:nvPr/>
        </p:nvSpPr>
        <p:spPr>
          <a:xfrm>
            <a:off x="4745736" y="5138928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</a:t>
            </a:r>
            <a:endParaRPr lang="en-US" sz="1500" dirty="0"/>
          </a:p>
        </p:txBody>
      </p:sp>
      <p:sp>
        <p:nvSpPr>
          <p:cNvPr id="33" name="Sub-step 3"/>
          <p:cNvSpPr txBox="1"/>
          <p:nvPr/>
        </p:nvSpPr>
        <p:spPr>
          <a:xfrm>
            <a:off x="4992624" y="5138928"/>
            <a:ext cx="22338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Enter </a:t>
            </a:r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bella@redflaghomes.in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 → </a:t>
            </a:r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Next</a:t>
            </a:r>
            <a:endParaRPr lang="en-US" sz="1100" dirty="0"/>
          </a:p>
        </p:txBody>
      </p:sp>
      <p:sp>
        <p:nvSpPr>
          <p:cNvPr id="34" name="Sub-step marker 4"/>
          <p:cNvSpPr txBox="1"/>
          <p:nvPr/>
        </p:nvSpPr>
        <p:spPr>
          <a:xfrm>
            <a:off x="4745736" y="5650992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</a:t>
            </a:r>
            <a:endParaRPr lang="en-US" sz="1500" dirty="0"/>
          </a:p>
        </p:txBody>
      </p:sp>
      <p:sp>
        <p:nvSpPr>
          <p:cNvPr id="35" name="Sub-step 4"/>
          <p:cNvSpPr txBox="1"/>
          <p:nvPr/>
        </p:nvSpPr>
        <p:spPr>
          <a:xfrm>
            <a:off x="4992624" y="5650992"/>
            <a:ext cx="22338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Choose permissions: give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Full access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 → </a:t>
            </a:r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Next</a:t>
            </a:r>
            <a:endParaRPr lang="en-US" sz="1100" dirty="0"/>
          </a:p>
        </p:txBody>
      </p:sp>
      <p:sp>
        <p:nvSpPr>
          <p:cNvPr id="36" name="Send highlight"/>
          <p:cNvSpPr/>
          <p:nvPr/>
        </p:nvSpPr>
        <p:spPr>
          <a:xfrm>
            <a:off x="4672584" y="6144768"/>
            <a:ext cx="2599639" cy="475488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37" name="Sub-step marker 5"/>
          <p:cNvSpPr txBox="1"/>
          <p:nvPr/>
        </p:nvSpPr>
        <p:spPr>
          <a:xfrm>
            <a:off x="4745736" y="6163056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bg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</a:t>
            </a:r>
            <a:endParaRPr lang="en-US" sz="1500" dirty="0"/>
          </a:p>
        </p:txBody>
      </p:sp>
      <p:sp>
        <p:nvSpPr>
          <p:cNvPr id="38" name="Sub-step 5"/>
          <p:cNvSpPr txBox="1"/>
          <p:nvPr/>
        </p:nvSpPr>
        <p:spPr>
          <a:xfrm>
            <a:off x="4992624" y="6163056"/>
            <a:ext cx="22338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Review and tap </a:t>
            </a:r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Send</a:t>
            </a:r>
            <a:endParaRPr lang="en-US" sz="1100" dirty="0"/>
          </a:p>
        </p:txBody>
      </p:sp>
      <p:sp>
        <p:nvSpPr>
          <p:cNvPr id="39" name="Step 3 number"/>
          <p:cNvSpPr txBox="1"/>
          <p:nvPr/>
        </p:nvSpPr>
        <p:spPr>
          <a:xfrm>
            <a:off x="7674559" y="15544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chemeClr val="accent1"/>
                </a:solidFill>
              </a:rPr>
              <a:t>3</a:t>
            </a:r>
            <a:endParaRPr lang="en-US" sz="5200" dirty="0"/>
          </a:p>
        </p:txBody>
      </p:sp>
      <p:sp>
        <p:nvSpPr>
          <p:cNvPr id="40" name="Step 3 heading"/>
          <p:cNvSpPr txBox="1"/>
          <p:nvPr/>
        </p:nvSpPr>
        <p:spPr>
          <a:xfrm>
            <a:off x="7674559" y="23774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Done. You're now set.</a:t>
            </a:r>
            <a:endParaRPr lang="en-US" sz="2200" dirty="0"/>
          </a:p>
        </p:txBody>
      </p:sp>
      <p:sp>
        <p:nvSpPr>
          <p:cNvPr id="41" name="Step 3 body"/>
          <p:cNvSpPr txBox="1"/>
          <p:nvPr/>
        </p:nvSpPr>
        <p:spPr>
          <a:xfrm>
            <a:off x="7674559" y="30175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Bella now manages your guest replies, pricing, check-ins and calendar, 24/7.</a:t>
            </a:r>
            <a:endParaRPr lang="en-US" sz="1400" dirty="0"/>
          </a:p>
        </p:txBody>
      </p:sp>
      <p:pic>
        <p:nvPicPr>
          <p:cNvPr id="42" name="Bella character" descr="Bella, the Red Flag Homes host assistant, wav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979" y="3794760"/>
            <a:ext cx="2834640" cy="2907323"/>
          </a:xfrm>
          <a:prstGeom prst="rect">
            <a:avLst/>
          </a:prstGeom>
        </p:spPr>
      </p:pic>
      <p:sp>
        <p:nvSpPr>
          <p:cNvPr id="43" name="Full access line"/>
          <p:cNvSpPr txBox="1"/>
          <p:nvPr/>
        </p:nvSpPr>
        <p:spPr>
          <a:xfrm>
            <a:off x="502920" y="69677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Full access lets Bella do everything for you.</a:t>
            </a:r>
            <a:endParaRPr lang="en-US" sz="1800" dirty="0"/>
          </a:p>
        </p:txBody>
      </p:sp>
      <p:pic>
        <p:nvPicPr>
          <p:cNvPr id="44" name="WhatsApp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495" y="7022592"/>
            <a:ext cx="256032" cy="256032"/>
          </a:xfrm>
          <a:prstGeom prst="rect">
            <a:avLst/>
          </a:prstGeom>
        </p:spPr>
      </p:pic>
      <p:sp>
        <p:nvSpPr>
          <p:cNvPr id="45" name="Help line"/>
          <p:cNvSpPr txBox="1"/>
          <p:nvPr/>
        </p:nvSpPr>
        <p:spPr>
          <a:xfrm>
            <a:off x="7491679" y="69677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Need help? Message us on WhatsApp.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d Flag Bella">
  <a:themeElements>
    <a:clrScheme name="Red Flag Bella">
      <a:dk1>
        <a:srgbClr val="0B0A0C"/>
      </a:dk1>
      <a:lt1>
        <a:srgbClr val="F4EFE8"/>
      </a:lt1>
      <a:dk2>
        <a:srgbClr val="17151A"/>
      </a:dk2>
      <a:lt2>
        <a:srgbClr val="8F8780"/>
      </a:lt2>
      <a:accent1>
        <a:srgbClr val="C9A66B"/>
      </a:accent1>
      <a:accent2>
        <a:srgbClr val="C8102E"/>
      </a:accent2>
      <a:accent3>
        <a:srgbClr val="A88A55"/>
      </a:accent3>
      <a:accent4>
        <a:srgbClr val="5C564F"/>
      </a:accent4>
      <a:accent5>
        <a:srgbClr val="E6D8BF"/>
      </a:accent5>
      <a:accent6>
        <a:srgbClr val="2A2630"/>
      </a:accent6>
      <a:hlink>
        <a:srgbClr val="C9A66B"/>
      </a:hlink>
      <a:folHlink>
        <a:srgbClr val="A88A55"/>
      </a:folHlink>
    </a:clrScheme>
    <a:fontScheme name="Red Flag Bella">
      <a:majorFont>
        <a:latin typeface="Cormorant 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Bella setup guide</dc:title>
  <dc:subject>PptxGenJS Presentation</dc:subject>
  <dc:creator>Red Flag Homes</dc:creator>
  <cp:lastModifiedBy>Red Flag Homes</cp:lastModifiedBy>
  <cp:revision>1</cp:revision>
  <dcterms:created xsi:type="dcterms:W3CDTF">2026-10-10T18:33:26Z</dcterms:created>
  <dcterms:modified xsi:type="dcterms:W3CDTF">2026-10-10T18:33:26Z</dcterms:modified>
</cp:coreProperties>
</file>