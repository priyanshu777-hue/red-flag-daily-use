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problem Bella solves: the 3 AM guest message. Then the offer: 48 hours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chat on the phone is illustrative. Point at the 3:02 AM timestamp.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struck regular price first, then the festive card. Finish on ≈ ₹125 a month per 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three steps, then land on the button. Repeat: exclusive to our first clients.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tatic-art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"/>
            <a:ext cx="960120" cy="960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600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RED FLAG HOMES PRESENTS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60350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1000" b="1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Bella</a:t>
            </a:r>
          </a:p>
        </p:txBody>
      </p:sp>
      <p:sp>
        <p:nvSpPr>
          <p:cNvPr id="6" name="Oval 5"/>
          <p:cNvSpPr/>
          <p:nvPr/>
        </p:nvSpPr>
        <p:spPr>
          <a:xfrm>
            <a:off x="5440680" y="3794760"/>
            <a:ext cx="329184" cy="32918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4-Point Star 6"/>
          <p:cNvSpPr/>
          <p:nvPr/>
        </p:nvSpPr>
        <p:spPr>
          <a:xfrm>
            <a:off x="5157216" y="2139696"/>
            <a:ext cx="384048" cy="384048"/>
          </a:xfrm>
          <a:prstGeom prst="star4">
            <a:avLst>
              <a:gd name="adj" fmla="val 18000"/>
            </a:avLst>
          </a:prstGeom>
          <a:solidFill>
            <a:srgbClr val="E9B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4-Point Star 7"/>
          <p:cNvSpPr/>
          <p:nvPr/>
        </p:nvSpPr>
        <p:spPr>
          <a:xfrm>
            <a:off x="5669280" y="2651760"/>
            <a:ext cx="182880" cy="182880"/>
          </a:xfrm>
          <a:prstGeom prst="star4">
            <a:avLst>
              <a:gd name="adj" fmla="val 18000"/>
            </a:avLst>
          </a:prstGeom>
          <a:solidFill>
            <a:srgbClr val="F4EF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965960"/>
            <a:ext cx="10972" cy="2377440"/>
          </a:xfrm>
          <a:prstGeom prst="rect">
            <a:avLst/>
          </a:prstGeom>
          <a:solidFill>
            <a:srgbClr val="3A34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800" b="1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What is Bella?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06040"/>
            <a:ext cx="21031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F4EFE8"/>
                </a:solidFill>
                <a:latin typeface="DM Sans"/>
                <a:ea typeface="DM Sans"/>
                <a:cs typeface="DM Sans"/>
              </a:rPr>
              <a:t>An AI-powered agent by Red Flag Homes that runs your bnb for you — guest replies, pricing, check-ins and listing audits, 24/7.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43400"/>
            <a:ext cx="2103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 i="0">
                <a:solidFill>
                  <a:srgbClr val="E9B872"/>
                </a:solidFill>
                <a:latin typeface="DM Sans"/>
                <a:ea typeface="DM Sans"/>
                <a:cs typeface="DM Sans"/>
              </a:rPr>
              <a:t>No per-booking commission.
Just one yearly subscription.</a:t>
            </a:r>
          </a:p>
        </p:txBody>
      </p:sp>
      <p:sp>
        <p:nvSpPr>
          <p:cNvPr id="13" name="Round Same Side Corner Rectangle 12"/>
          <p:cNvSpPr/>
          <p:nvPr/>
        </p:nvSpPr>
        <p:spPr>
          <a:xfrm>
            <a:off x="8933688" y="1435608"/>
            <a:ext cx="2834640" cy="2974048"/>
          </a:xfrm>
          <a:prstGeom prst="round2SameRect">
            <a:avLst>
              <a:gd name="adj1" fmla="val 50000"/>
              <a:gd name="adj2" fmla="val 0"/>
            </a:avLst>
          </a:prstGeom>
          <a:noFill/>
          <a:ln w="25400">
            <a:solidFill>
              <a:srgbClr val="C8102E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static-art" descr="bella_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1234440"/>
            <a:ext cx="2834640" cy="297404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 rot="21000000">
            <a:off x="10881360" y="3705568"/>
            <a:ext cx="1097280" cy="1097280"/>
          </a:xfrm>
          <a:prstGeom prst="ellipse">
            <a:avLst/>
          </a:prstGeom>
          <a:solidFill>
            <a:srgbClr val="C8102E"/>
          </a:solidFill>
          <a:ln>
            <a:noFill/>
          </a:ln>
          <a:effectLst>
            <a:outerShdw blurRad="177800" dist="5080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 rot="21000000">
            <a:off x="10881360" y="4127526"/>
            <a:ext cx="1097280" cy="25336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24/7</a:t>
            </a:r>
          </a:p>
        </p:txBody>
      </p:sp>
      <p:sp>
        <p:nvSpPr>
          <p:cNvPr id="17" name="Oval 16"/>
          <p:cNvSpPr/>
          <p:nvPr/>
        </p:nvSpPr>
        <p:spPr>
          <a:xfrm rot="720000">
            <a:off x="11064240" y="960120"/>
            <a:ext cx="914400" cy="914400"/>
          </a:xfrm>
          <a:prstGeom prst="ellipse">
            <a:avLst/>
          </a:prstGeom>
          <a:solidFill>
            <a:srgbClr val="E9B872"/>
          </a:solidFill>
          <a:ln>
            <a:noFill/>
          </a:ln>
          <a:effectLst>
            <a:outerShdw blurRad="177800" dist="5080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 rot="720000">
            <a:off x="11064240" y="1257300"/>
            <a:ext cx="91440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 rot="720000">
            <a:off x="11064240" y="1417320"/>
            <a:ext cx="914400" cy="1600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agent</a:t>
            </a:r>
          </a:p>
        </p:txBody>
      </p:sp>
      <p:sp>
        <p:nvSpPr>
          <p:cNvPr id="20" name="4-Point Star 19"/>
          <p:cNvSpPr/>
          <p:nvPr/>
        </p:nvSpPr>
        <p:spPr>
          <a:xfrm>
            <a:off x="9861804" y="4565104"/>
            <a:ext cx="292608" cy="292608"/>
          </a:xfrm>
          <a:prstGeom prst="star4">
            <a:avLst>
              <a:gd name="adj" fmla="val 18000"/>
            </a:avLst>
          </a:prstGeom>
          <a:solidFill>
            <a:srgbClr val="F4EF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5257800"/>
            <a:ext cx="4480560" cy="603504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435727"/>
            <a:ext cx="448056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Start your 48-hour free trial  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5330952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4EFE8"/>
                </a:solidFill>
                <a:latin typeface="DM Sans"/>
                <a:ea typeface="DM Sans"/>
                <a:cs typeface="DM Sans"/>
              </a:rPr>
              <a:t>Festive offer  ₹2,999 / year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62356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Exclusive to our first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35508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 i="0" spc="25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BELLA BY RED FLAG HOMES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5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58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62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666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9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7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9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900" decel="100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082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186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49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602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0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1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201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2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26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3" grpId="0" animBg="1"/>
      <p:bldP spid="18" grpId="0" animBg="1"/>
      <p:bldP spid="19" grpId="0" animBg="1"/>
      <p:bldP spid="5" grpId="0" animBg="1"/>
      <p:bldP spid="4" grpId="0" animBg="1"/>
      <p:bldP spid="9" grpId="0" animBg="1"/>
      <p:bldP spid="10" grpId="0" animBg="1"/>
      <p:bldP spid="7" grpId="0" animBg="1"/>
      <p:bldP spid="8" grpId="0" animBg="1"/>
      <p:bldP spid="11" grpId="0" animBg="1"/>
      <p:bldP spid="6" grpId="0" animBg="1"/>
      <p:bldP spid="15" grpId="0" animBg="1"/>
      <p:bldP spid="16" grpId="0" animBg="1"/>
      <p:bldP spid="12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WHAT BELLA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73152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Everything your listing
needs, handled.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514600"/>
            <a:ext cx="3246120" cy="1627632"/>
          </a:xfrm>
          <a:prstGeom prst="roundRect">
            <a:avLst>
              <a:gd name="adj" fmla="val 8000"/>
            </a:avLst>
          </a:prstGeom>
          <a:solidFill>
            <a:srgbClr val="141214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706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B872"/>
                </a:solidFill>
                <a:latin typeface="DM Sans"/>
                <a:ea typeface="DM Sans"/>
                <a:cs typeface="DM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017520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Instant guest replies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474720"/>
            <a:ext cx="26974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F2D3CF"/>
                </a:solidFill>
                <a:latin typeface="DM Sans"/>
                <a:ea typeface="DM Sans"/>
                <a:cs typeface="DM Sans"/>
              </a:rPr>
              <a:t>Answers every guest in seconds, 24/7 — even at 3 AM.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7" y="2514600"/>
            <a:ext cx="3246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27706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3017520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Smart pricing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3474720"/>
            <a:ext cx="26974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D464A"/>
                </a:solidFill>
                <a:latin typeface="DM Sans"/>
                <a:ea typeface="DM Sans"/>
                <a:cs typeface="DM Sans"/>
              </a:rPr>
              <a:t>Adjusts your nightly rates for weekends, festivals and demand.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343400"/>
            <a:ext cx="3246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599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46320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Automatic check-in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303520"/>
            <a:ext cx="26974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D464A"/>
                </a:solidFill>
                <a:latin typeface="DM Sans"/>
                <a:ea typeface="DM Sans"/>
                <a:cs typeface="DM Sans"/>
              </a:rPr>
              <a:t>Sends every guest their check-in details on time, every time.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33087" y="4343400"/>
            <a:ext cx="324612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4599432"/>
            <a:ext cx="731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4846320"/>
            <a:ext cx="269747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4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A–Z listing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7" y="5303520"/>
            <a:ext cx="2697479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4D464A"/>
                </a:solidFill>
                <a:latin typeface="DM Sans"/>
                <a:ea typeface="DM Sans"/>
                <a:cs typeface="DM Sans"/>
              </a:rPr>
              <a:t>Reviews photos, title, description and settings — and fixes the gaps.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6172200"/>
            <a:ext cx="3840480" cy="384048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6254496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Zero setup hassle.  Live in 3 clicks.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685800"/>
            <a:ext cx="3063240" cy="5715000"/>
          </a:xfrm>
          <a:prstGeom prst="roundRect">
            <a:avLst>
              <a:gd name="adj" fmla="val 13000"/>
            </a:avLst>
          </a:prstGeom>
          <a:solidFill>
            <a:srgbClr val="141214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348472" y="804672"/>
            <a:ext cx="2825496" cy="5477256"/>
          </a:xfrm>
          <a:prstGeom prst="roundRect">
            <a:avLst>
              <a:gd name="adj" fmla="val 11000"/>
            </a:avLst>
          </a:prstGeom>
          <a:solidFill>
            <a:srgbClr val="FBF8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04020" y="90525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1412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static-art" descr="bella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0" y="1234440"/>
            <a:ext cx="502920" cy="50292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1271016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Bella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150876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DAA5B"/>
                </a:solidFill>
                <a:latin typeface="DM Sans"/>
                <a:ea typeface="DM Sans"/>
                <a:cs typeface="DM Sans"/>
              </a:rPr>
              <a:t>● online · Red Flag Homes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48472" y="1874519"/>
            <a:ext cx="2825496" cy="10972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011680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7A7276"/>
                </a:solidFill>
                <a:latin typeface="DM Sans"/>
                <a:ea typeface="DM Sans"/>
                <a:cs typeface="DM Sans"/>
              </a:rPr>
              <a:t>3:02 AM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03920" y="2331720"/>
            <a:ext cx="2103120" cy="685800"/>
          </a:xfrm>
          <a:prstGeom prst="roundRect">
            <a:avLst>
              <a:gd name="adj" fmla="val 25000"/>
            </a:avLst>
          </a:prstGeom>
          <a:solidFill>
            <a:srgbClr val="ECE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41080" y="2441448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Hi! Can we check in early tomorrow?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15400" y="3200400"/>
            <a:ext cx="2103120" cy="1005840"/>
          </a:xfrm>
          <a:prstGeom prst="roundRect">
            <a:avLst>
              <a:gd name="adj" fmla="val 20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0" y="3310128"/>
            <a:ext cx="1874519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Hi! Early check-in from 11 AM is available. I’ve sent your check-in details 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270248"/>
            <a:ext cx="2103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7A7276"/>
                </a:solidFill>
                <a:latin typeface="DM Sans"/>
                <a:ea typeface="DM Sans"/>
                <a:cs typeface="DM Sans"/>
              </a:rPr>
              <a:t>Replied in 4 seconds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03920" y="4572000"/>
            <a:ext cx="1645920" cy="457200"/>
          </a:xfrm>
          <a:prstGeom prst="roundRect">
            <a:avLst>
              <a:gd name="adj" fmla="val 30000"/>
            </a:avLst>
          </a:prstGeom>
          <a:solidFill>
            <a:srgbClr val="ECE6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468172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Amazing, thank you!</a:t>
            </a:r>
          </a:p>
        </p:txBody>
      </p:sp>
      <p:sp>
        <p:nvSpPr>
          <p:cNvPr id="38" name="4-Point Star 37"/>
          <p:cNvSpPr/>
          <p:nvPr/>
        </p:nvSpPr>
        <p:spPr>
          <a:xfrm>
            <a:off x="7818120" y="2057400"/>
            <a:ext cx="365760" cy="365760"/>
          </a:xfrm>
          <a:prstGeom prst="star4">
            <a:avLst>
              <a:gd name="adj" fmla="val 18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4-Point Star 38"/>
          <p:cNvSpPr/>
          <p:nvPr/>
        </p:nvSpPr>
        <p:spPr>
          <a:xfrm>
            <a:off x="11283695" y="3584448"/>
            <a:ext cx="237744" cy="237744"/>
          </a:xfrm>
          <a:prstGeom prst="star4">
            <a:avLst>
              <a:gd name="adj" fmla="val 18000"/>
            </a:avLst>
          </a:prstGeom>
          <a:solidFill>
            <a:srgbClr val="E9B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0" y="6510528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00" b="0" i="0">
                <a:solidFill>
                  <a:srgbClr val="7A7276"/>
                </a:solidFill>
                <a:latin typeface="DM Sans"/>
                <a:ea typeface="DM Sans"/>
                <a:cs typeface="DM Sans"/>
              </a:rPr>
              <a:t>Illustrative conversation</a:t>
            </a:r>
          </a:p>
        </p:txBody>
      </p:sp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9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368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9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7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8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545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60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663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722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781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99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58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017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076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135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1194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253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1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371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4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489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548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07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666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725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784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843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902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1961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9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900" decel="100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202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2079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2138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2197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2256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2315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2374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7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3" grpId="0" animBg="1"/>
      <p:bldP spid="4" grpId="0" animBg="1"/>
      <p:bldP spid="24" grpId="0" animBg="1"/>
      <p:bldP spid="25" grpId="0" animBg="1"/>
      <p:bldP spid="27" grpId="0" animBg="1"/>
      <p:bldP spid="28" grpId="0" animBg="1"/>
      <p:bldP spid="38" grpId="0" animBg="1"/>
      <p:bldP spid="30" grpId="0" animBg="1"/>
      <p:bldP spid="29" grpId="0" animBg="1"/>
      <p:bldP spid="31" grpId="0" animBg="1"/>
      <p:bldP spid="5" grpId="0" animBg="1"/>
      <p:bldP spid="9" grpId="0" animBg="1"/>
      <p:bldP spid="32" grpId="0" animBg="1"/>
      <p:bldP spid="6" grpId="0" animBg="1"/>
      <p:bldP spid="7" grpId="0" animBg="1"/>
      <p:bldP spid="10" grpId="0" animBg="1"/>
      <p:bldP spid="11" grpId="0" animBg="1"/>
      <p:bldP spid="33" grpId="0" animBg="1"/>
      <p:bldP spid="34" grpId="0" animBg="1"/>
      <p:bldP spid="8" grpId="0" animBg="1"/>
      <p:bldP spid="12" grpId="0" animBg="1"/>
      <p:bldP spid="39" grpId="0" animBg="1"/>
      <p:bldP spid="35" grpId="0" animBg="1"/>
      <p:bldP spid="13" grpId="0" animBg="1"/>
      <p:bldP spid="14" grpId="0" animBg="1"/>
      <p:bldP spid="17" grpId="0" animBg="1"/>
      <p:bldP spid="18" grpId="0" animBg="1"/>
      <p:bldP spid="36" grpId="0" animBg="1"/>
      <p:bldP spid="15" grpId="0" animBg="1"/>
      <p:bldP spid="19" grpId="0" animBg="1"/>
      <p:bldP spid="37" grpId="0" animBg="1"/>
      <p:bldP spid="16" grpId="0" animBg="1"/>
      <p:bldP spid="20" grpId="0" animBg="1"/>
      <p:bldP spid="21" grpId="0" animBg="1"/>
      <p:bldP spid="22" grpId="0" animBg="1"/>
      <p:bldP spid="40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static-art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2935" y="32004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858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60120"/>
            <a:ext cx="9326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4200" b="1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No commission. Just one yearly fee.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4206240" cy="2834640"/>
          </a:xfrm>
          <a:prstGeom prst="roundRect">
            <a:avLst>
              <a:gd name="adj" fmla="val 7000"/>
            </a:avLst>
          </a:prstGeom>
          <a:solidFill>
            <a:srgbClr val="211E21"/>
          </a:solidFill>
          <a:ln w="12700">
            <a:solidFill>
              <a:srgbClr val="3A343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88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REGULAR PRICE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91839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 strike="sngStrike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₹4,999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114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per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Covers up to 2 listings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2057400"/>
            <a:ext cx="4480560" cy="3566160"/>
          </a:xfrm>
          <a:prstGeom prst="roundRect">
            <a:avLst>
              <a:gd name="adj" fmla="val 7000"/>
            </a:avLst>
          </a:prstGeom>
          <a:solidFill>
            <a:srgbClr val="C8102E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2423160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412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23560" y="248716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50" b="1" i="0" spc="200">
                <a:solidFill>
                  <a:srgbClr val="E9B872"/>
                </a:solidFill>
                <a:latin typeface="DM Sans"/>
                <a:ea typeface="DM Sans"/>
                <a:cs typeface="DM Sans"/>
              </a:rPr>
              <a:t>FESTIVE OFFER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97180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₹2,999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41148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per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617720"/>
            <a:ext cx="3657600" cy="10972"/>
          </a:xfrm>
          <a:prstGeom prst="rect">
            <a:avLst/>
          </a:prstGeom>
          <a:solidFill>
            <a:srgbClr val="E0707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478231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Covers up to 2 listings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50932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2D3CF"/>
                </a:solidFill>
                <a:latin typeface="DM Sans"/>
                <a:ea typeface="DM Sans"/>
                <a:cs typeface="DM Sans"/>
              </a:rPr>
              <a:t>48-hour free trial first</a:t>
            </a:r>
          </a:p>
        </p:txBody>
      </p:sp>
      <p:sp>
        <p:nvSpPr>
          <p:cNvPr id="19" name="Oval 18"/>
          <p:cNvSpPr/>
          <p:nvPr/>
        </p:nvSpPr>
        <p:spPr>
          <a:xfrm rot="840000">
            <a:off x="8961120" y="1554480"/>
            <a:ext cx="1234440" cy="1234440"/>
          </a:xfrm>
          <a:prstGeom prst="ellipse">
            <a:avLst/>
          </a:prstGeom>
          <a:solidFill>
            <a:srgbClr val="E9B872"/>
          </a:solidFill>
          <a:ln>
            <a:noFill/>
          </a:ln>
          <a:effectLst>
            <a:outerShdw blurRad="177800" dist="50800" dir="5400000" algn="t" rotWithShape="0">
              <a:srgbClr val="000000">
                <a:alpha val="25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 rot="840000">
            <a:off x="8961120" y="1985010"/>
            <a:ext cx="123444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Save</a:t>
            </a:r>
          </a:p>
        </p:txBody>
      </p:sp>
      <p:sp>
        <p:nvSpPr>
          <p:cNvPr id="21" name="TextBox 20"/>
          <p:cNvSpPr txBox="1"/>
          <p:nvPr/>
        </p:nvSpPr>
        <p:spPr>
          <a:xfrm rot="840000">
            <a:off x="8961120" y="2171700"/>
            <a:ext cx="1234440" cy="186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141214"/>
                </a:solidFill>
                <a:latin typeface="DM Sans"/>
                <a:ea typeface="DM Sans"/>
                <a:cs typeface="DM Sans"/>
              </a:rPr>
              <a:t>₹2,000</a:t>
            </a:r>
          </a:p>
        </p:txBody>
      </p:sp>
      <p:pic>
        <p:nvPicPr>
          <p:cNvPr id="22" name="static-art" descr="bella_ava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3977639"/>
            <a:ext cx="1417320" cy="141732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10058400" y="3931920"/>
            <a:ext cx="1508760" cy="1508760"/>
          </a:xfrm>
          <a:prstGeom prst="ellipse">
            <a:avLst/>
          </a:prstGeom>
          <a:noFill/>
          <a:ln w="19050">
            <a:solidFill>
              <a:srgbClr val="E9B8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4-Point Star 23"/>
          <p:cNvSpPr/>
          <p:nvPr/>
        </p:nvSpPr>
        <p:spPr>
          <a:xfrm>
            <a:off x="11475719" y="3703320"/>
            <a:ext cx="274320" cy="274320"/>
          </a:xfrm>
          <a:prstGeom prst="star4">
            <a:avLst>
              <a:gd name="adj" fmla="val 18000"/>
            </a:avLst>
          </a:prstGeom>
          <a:solidFill>
            <a:srgbClr val="E9B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760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1900" b="0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That’s about ₹125 a month per listing with two listings — and a 48-hour free trial first.</a:t>
            </a:r>
          </a:p>
        </p:txBody>
      </p:sp>
    </p:spTree>
  </p:cSld>
  <p:clrMapOvr>
    <a:masterClrMapping/>
  </p:clrMapOvr>
  <p:transition spd="slow" advClick="1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54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8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62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66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74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978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082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186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129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9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9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98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602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70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81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14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2018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122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2226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233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9" grpId="0" animBg="1"/>
      <p:bldP spid="11" grpId="0" animBg="1"/>
      <p:bldP spid="20" grpId="0" animBg="1"/>
      <p:bldP spid="21" grpId="0" animBg="1"/>
      <p:bldP spid="6" grpId="0" animBg="1"/>
      <p:bldP spid="12" grpId="0" animBg="1"/>
      <p:bldP spid="13" grpId="0" animBg="1"/>
      <p:bldP spid="7" grpId="0" animBg="1"/>
      <p:bldP spid="14" grpId="0" animBg="1"/>
      <p:bldP spid="8" grpId="0" animBg="1"/>
      <p:bldP spid="23" grpId="0" animBg="1"/>
      <p:bldP spid="24" grpId="0" animBg="1"/>
      <p:bldP spid="9" grpId="0" animBg="1"/>
      <p:bldP spid="15" grpId="0" animBg="1"/>
      <p:bldP spid="10" grpId="0" animBg="1"/>
      <p:bldP spid="16" grpId="0" animBg="1"/>
      <p:bldP spid="17" grpId="0" animBg="1"/>
      <p:bldP spid="18" grpId="0" animBg="1"/>
      <p:bldP spid="2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tatic-bg" descr="grain_cre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30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HOW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50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Three steps. Then Bella takes over.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342900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29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Start your free trial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931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D464A"/>
                </a:solidFill>
                <a:latin typeface="DM Sans"/>
                <a:ea typeface="DM Sans"/>
                <a:cs typeface="DM Sans"/>
              </a:rPr>
              <a:t>48 hours free, up to 2 listings.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2148840"/>
            <a:ext cx="3429000" cy="25146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3429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141214"/>
                </a:solidFill>
                <a:latin typeface="Cormorant Garamond"/>
                <a:ea typeface="DM Sans"/>
                <a:cs typeface="DM Sans"/>
              </a:rPr>
              <a:t>Add Bella as co-host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0016" y="3931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4D464A"/>
                </a:solidFill>
                <a:latin typeface="DM Sans"/>
                <a:ea typeface="DM Sans"/>
                <a:cs typeface="DM Sans"/>
              </a:rPr>
              <a:t>Invite her with full access: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4206240"/>
            <a:ext cx="2514600" cy="310896"/>
          </a:xfrm>
          <a:prstGeom prst="roundRect">
            <a:avLst>
              <a:gd name="adj" fmla="val 50000"/>
            </a:avLst>
          </a:prstGeom>
          <a:solidFill>
            <a:srgbClr val="F7E3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0016" y="4261104"/>
            <a:ext cx="2514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bella@redflaghomes.in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255" y="31546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74152" y="2148840"/>
            <a:ext cx="3429000" cy="2514600"/>
          </a:xfrm>
          <a:prstGeom prst="roundRect">
            <a:avLst>
              <a:gd name="adj" fmla="val 7000"/>
            </a:avLst>
          </a:prstGeom>
          <a:solidFill>
            <a:srgbClr val="141214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377440"/>
            <a:ext cx="1097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 i="0">
                <a:solidFill>
                  <a:srgbClr val="C8102E"/>
                </a:solidFill>
                <a:latin typeface="DM Sans"/>
                <a:ea typeface="DM Sans"/>
                <a:cs typeface="DM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3429000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0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Save. Done.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3931920"/>
            <a:ext cx="2788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F2D3CF"/>
                </a:solidFill>
                <a:latin typeface="DM Sans"/>
                <a:ea typeface="DM Sans"/>
                <a:cs typeface="DM Sans"/>
              </a:rPr>
              <a:t>Bella now manages everything.</a:t>
            </a:r>
          </a:p>
        </p:txBody>
      </p:sp>
      <p:sp>
        <p:nvSpPr>
          <p:cNvPr id="21" name="4-Point Star 20"/>
          <p:cNvSpPr/>
          <p:nvPr/>
        </p:nvSpPr>
        <p:spPr>
          <a:xfrm>
            <a:off x="11219688" y="1801368"/>
            <a:ext cx="329184" cy="329184"/>
          </a:xfrm>
          <a:prstGeom prst="star4">
            <a:avLst>
              <a:gd name="adj" fmla="val 18000"/>
            </a:avLst>
          </a:prstGeom>
          <a:solidFill>
            <a:srgbClr val="C810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4-Point Star 21"/>
          <p:cNvSpPr/>
          <p:nvPr/>
        </p:nvSpPr>
        <p:spPr>
          <a:xfrm>
            <a:off x="11567160" y="2240279"/>
            <a:ext cx="182880" cy="182880"/>
          </a:xfrm>
          <a:prstGeom prst="star4">
            <a:avLst>
              <a:gd name="adj" fmla="val 18000"/>
            </a:avLst>
          </a:prstGeom>
          <a:solidFill>
            <a:srgbClr val="E9B87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14121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static-art" descr="bella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349240"/>
            <a:ext cx="1188720" cy="11887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148840" y="5468112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2000"/>
              </a:lnSpc>
            </a:pPr>
            <a:r>
              <a:rPr sz="2600" b="1" i="1">
                <a:solidFill>
                  <a:srgbClr val="F4EFE8"/>
                </a:solidFill>
                <a:latin typeface="Cormorant Garamond"/>
                <a:ea typeface="DM Sans"/>
                <a:cs typeface="DM Sans"/>
              </a:rPr>
              <a:t>Exclusive to Red Flag’s first clients.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48840" y="59893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C9498"/>
                </a:solidFill>
                <a:latin typeface="DM Sans"/>
                <a:ea typeface="DM Sans"/>
                <a:cs typeface="DM Sans"/>
              </a:rPr>
              <a:t>Festive offer ₹2,999 / year  ·  48-hour free trial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8375" y="5486400"/>
            <a:ext cx="3017520" cy="73152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  <a:effectLst>
            <a:outerShdw blurRad="304800" dist="762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8375" y="570357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DM Sans"/>
                <a:ea typeface="DM Sans"/>
                <a:cs typeface="DM Sans"/>
              </a:rPr>
              <a:t>Get Bella  →</a:t>
            </a:r>
          </a:p>
        </p:txBody>
      </p:sp>
      <p:pic>
        <p:nvPicPr>
          <p:cNvPr id="29" name="static-art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6815" y="5349240"/>
            <a:ext cx="868680" cy="868680"/>
          </a:xfrm>
          <a:prstGeom prst="rect">
            <a:avLst/>
          </a:prstGeom>
        </p:spPr>
      </p:pic>
    </p:spTree>
  </p:cSld>
  <p:clrMapOvr>
    <a:masterClrMapping/>
  </p:clrMapOvr>
  <p:transition spd="slow" advClick="1">
    <p:fade thruBlk="0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38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9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9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26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14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602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9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69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778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9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900" decel="100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866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954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9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9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42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113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9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218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9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1306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9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900" decel="100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1394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9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1482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9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57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1658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1746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834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922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01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2098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9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900" decel="100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186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2274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9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900" decel="1000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3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362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21" grpId="0" animBg="1"/>
      <p:bldP spid="5" grpId="0" animBg="1"/>
      <p:bldP spid="6" grpId="0" animBg="1"/>
      <p:bldP spid="10" grpId="0" animBg="1"/>
      <p:bldP spid="11" grpId="0" animBg="1"/>
      <p:bldP spid="17" grpId="0" animBg="1"/>
      <p:bldP spid="18" grpId="0" animBg="1"/>
      <p:bldP spid="22" grpId="0" animBg="1"/>
      <p:bldP spid="9" grpId="0" animBg="1"/>
      <p:bldP spid="16" grpId="0" animBg="1"/>
      <p:bldP spid="7" grpId="0" animBg="1"/>
      <p:bldP spid="12" grpId="0" animBg="1"/>
      <p:bldP spid="19" grpId="0" animBg="1"/>
      <p:bldP spid="8" grpId="0" animBg="1"/>
      <p:bldP spid="13" grpId="0" animBg="1"/>
      <p:bldP spid="20" grpId="0" animBg="1"/>
      <p:bldP spid="14" grpId="0" animBg="1"/>
      <p:bldP spid="15" grpId="0" animBg="1"/>
      <p:bldP spid="23" grpId="0" animBg="1"/>
      <p:bldP spid="25" grpId="0" animBg="1"/>
      <p:bldP spid="27" grpId="0" animBg="1"/>
      <p:bldP spid="28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