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hook: your bnb never sleeps.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chat speak. 2 AM, Hinglish, three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things, one co-host. Close on: live in 3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 slowly. One statement, then the three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Struck price first, then the red card. Land on ≈ ₹125 a month per listing.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line for the close: “Your guests don’t wait, and neither should your bnb. Try Bella free for 48 hours. If you don’t love it, cancel anytime.”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rome"/>
          <p:cNvSpPr txBox="1"/>
          <p:nvPr/>
        </p:nvSpPr>
        <p:spPr>
          <a:xfrm>
            <a:off x="777240" y="6355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5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BELLA  ·  RED FLAG HOMES</a:t>
            </a:r>
          </a:p>
        </p:txBody>
      </p:sp>
      <p:sp>
        <p:nvSpPr>
          <p:cNvPr id="4" name="chrome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01 / 06</a:t>
            </a:r>
          </a:p>
        </p:txBody>
      </p:sp>
      <p:pic>
        <p:nvPicPr>
          <p:cNvPr id="5" name="static-art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11480"/>
            <a:ext cx="77724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56855" y="5669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35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POWERED BY GPT-5.6 SOL</a:t>
            </a:r>
          </a:p>
        </p:txBody>
      </p:sp>
      <p:pic>
        <p:nvPicPr>
          <p:cNvPr id="7" name="static-art" descr="or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502920"/>
            <a:ext cx="512064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" y="160020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9000" b="0" i="1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Bella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005072"/>
            <a:ext cx="3291840" cy="9144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33087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5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BY RED FLAG HOMES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Your bnb never sleeps.
Now neither does Bella.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The AI co-host that replies, prices, checks in and protects your calendar. 24/7. In 50+ languages.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5349240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9525">
            <a:solidFill>
              <a:srgbClr val="C8102E"/>
            </a:solidFill>
          </a:ln>
          <a:effectLst>
            <a:glow rad="177800">
              <a:srgbClr val="C8102E">
                <a:alpha val="3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5521261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Start your 48-hour free trial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603504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Cancel anytime  ·  No commission  ·  Festive offer ₹2,999 / year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rome"/>
          <p:cNvSpPr txBox="1"/>
          <p:nvPr/>
        </p:nvSpPr>
        <p:spPr>
          <a:xfrm>
            <a:off x="777240" y="6355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50">
                <a:solidFill>
                  <a:srgbClr val="7C7470"/>
                </a:solidFill>
                <a:latin typeface="DM Sans"/>
                <a:ea typeface="DM Sans"/>
                <a:cs typeface="DM Sans"/>
              </a:rPr>
              <a:t>BELLA  ·  RED FLAG HOMES</a:t>
            </a:r>
          </a:p>
        </p:txBody>
      </p:sp>
      <p:sp>
        <p:nvSpPr>
          <p:cNvPr id="4" name="chrome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5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SEE BELLA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0B0A0C"/>
                </a:solidFill>
                <a:latin typeface="Cormorant Garamond"/>
                <a:ea typeface="DM Sans"/>
                <a:cs typeface="DM Sans"/>
              </a:rPr>
              <a:t>A guest texts at 2 AM.
Bella answers in 3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520440"/>
            <a:ext cx="1097280" cy="9144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4A4346"/>
                </a:solidFill>
                <a:latin typeface="DM Sans"/>
                <a:ea typeface="DM Sans"/>
                <a:cs typeface="DM Sans"/>
              </a:rPr>
              <a:t>Same question in any language. Bella replies in the guest’s own language.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1645920" cy="9144"/>
          </a:xfrm>
          <a:prstGeom prst="rect">
            <a:avLst/>
          </a:prstGeom>
          <a:solidFill>
            <a:srgbClr val="DDD3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C8102E"/>
                </a:solidFill>
                <a:latin typeface="Cormorant Garamond"/>
                <a:ea typeface="DM Sans"/>
                <a:cs typeface="DM Sans"/>
              </a:rPr>
              <a:t>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470"/>
                </a:solidFill>
                <a:latin typeface="DM Sans"/>
                <a:ea typeface="DM Sans"/>
                <a:cs typeface="DM Sans"/>
              </a:rPr>
              <a:t>average reply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617720"/>
            <a:ext cx="1645920" cy="9144"/>
          </a:xfrm>
          <a:prstGeom prst="rect">
            <a:avLst/>
          </a:prstGeom>
          <a:solidFill>
            <a:srgbClr val="DDD3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475488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0B0A0C"/>
                </a:solidFill>
                <a:latin typeface="Cormorant Garamond"/>
                <a:ea typeface="DM Sans"/>
                <a:cs typeface="DM Sans"/>
              </a:rPr>
              <a:t>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4864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470"/>
                </a:solidFill>
                <a:latin typeface="DM Sans"/>
                <a:ea typeface="DM Sans"/>
                <a:cs typeface="DM Sans"/>
              </a:rPr>
              <a:t>languages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4617720"/>
            <a:ext cx="1645920" cy="9144"/>
          </a:xfrm>
          <a:prstGeom prst="rect">
            <a:avLst/>
          </a:prstGeom>
          <a:solidFill>
            <a:srgbClr val="DDD3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475488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0B0A0C"/>
                </a:solidFill>
                <a:latin typeface="Cormorant Garamond"/>
                <a:ea typeface="DM Sans"/>
                <a:cs typeface="DM Sans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54864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470"/>
                </a:solidFill>
                <a:latin typeface="DM Sans"/>
                <a:ea typeface="DM Sans"/>
                <a:cs typeface="DM Sans"/>
              </a:rPr>
              <a:t>even at 2 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685800"/>
            <a:ext cx="3566160" cy="5577840"/>
          </a:xfrm>
          <a:prstGeom prst="roundRect">
            <a:avLst>
              <a:gd name="adj" fmla="val 12000"/>
            </a:avLst>
          </a:prstGeom>
          <a:solidFill>
            <a:srgbClr val="0B0A0C"/>
          </a:solidFill>
          <a:ln w="9525">
            <a:solidFill>
              <a:srgbClr val="0B0A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0376" y="813816"/>
            <a:ext cx="3310128" cy="5321807"/>
          </a:xfrm>
          <a:prstGeom prst="roundRect">
            <a:avLst>
              <a:gd name="adj" fmla="val 10000"/>
            </a:avLst>
          </a:prstGeom>
          <a:solidFill>
            <a:srgbClr val="FBF8F3"/>
          </a:solidFill>
          <a:ln w="9525">
            <a:solidFill>
              <a:srgbClr val="FBF8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32519" y="932688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0B0A0C"/>
          </a:solidFill>
          <a:ln w="9525">
            <a:solidFill>
              <a:srgbClr val="0B0A0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tatic-art" descr="o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252728"/>
            <a:ext cx="685800" cy="685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39912" y="1389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A0C"/>
                </a:solidFill>
                <a:latin typeface="DM Sans"/>
                <a:ea typeface="DM Sans"/>
                <a:cs typeface="DM Sans"/>
              </a:rPr>
              <a:t>Bella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162763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AI co-host  ·  replies in 3s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0376" y="1984248"/>
            <a:ext cx="3310128" cy="9144"/>
          </a:xfrm>
          <a:prstGeom prst="rect">
            <a:avLst/>
          </a:prstGeom>
          <a:solidFill>
            <a:srgbClr val="DDD3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14884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7C7470"/>
                </a:solidFill>
                <a:latin typeface="DM Sans"/>
                <a:ea typeface="DM Sans"/>
                <a:cs typeface="DM Sans"/>
              </a:rPr>
              <a:t>2:04 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514600"/>
            <a:ext cx="2514600" cy="566928"/>
          </a:xfrm>
          <a:prstGeom prst="roundRect">
            <a:avLst>
              <a:gd name="adj" fmla="val 35000"/>
            </a:avLst>
          </a:prstGeom>
          <a:solidFill>
            <a:srgbClr val="E7E1D8"/>
          </a:solidFill>
          <a:ln w="9525">
            <a:solidFill>
              <a:srgbClr val="E7E1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670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B0A0C"/>
                </a:solidFill>
                <a:latin typeface="DM Sans"/>
                <a:ea typeface="DM Sans"/>
                <a:cs typeface="DM Sans"/>
              </a:rPr>
              <a:t>India Gate kitni door hai?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136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7C7470"/>
                </a:solidFill>
                <a:latin typeface="DM Sans"/>
                <a:ea typeface="DM Sans"/>
                <a:cs typeface="DM Sans"/>
              </a:rPr>
              <a:t>Guest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474720"/>
            <a:ext cx="2377440" cy="566928"/>
          </a:xfrm>
          <a:prstGeom prst="roundRect">
            <a:avLst>
              <a:gd name="adj" fmla="val 35000"/>
            </a:avLst>
          </a:prstGeom>
          <a:solidFill>
            <a:srgbClr val="0B0A0C"/>
          </a:solidFill>
          <a:ln w="15875">
            <a:solidFill>
              <a:srgbClr val="C9A66B"/>
            </a:solidFill>
          </a:ln>
          <a:effectLst>
            <a:glow rad="101600">
              <a:srgbClr val="C9A66B">
                <a:alpha val="2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6301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4EFE8"/>
                </a:solidFill>
                <a:latin typeface="DM Sans"/>
                <a:ea typeface="DM Sans"/>
                <a:cs typeface="DM Sans"/>
              </a:rPr>
              <a:t>Sirf 10 min door.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09651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Bella  ·  3 seconds</a:t>
            </a:r>
          </a:p>
        </p:txBody>
      </p:sp>
      <p:sp>
        <p:nvSpPr>
          <p:cNvPr id="32" name="Oval 31"/>
          <p:cNvSpPr/>
          <p:nvPr/>
        </p:nvSpPr>
        <p:spPr>
          <a:xfrm>
            <a:off x="7909560" y="4663440"/>
            <a:ext cx="91440" cy="91440"/>
          </a:xfrm>
          <a:prstGeom prst="ellipse">
            <a:avLst/>
          </a:prstGeom>
          <a:solidFill>
            <a:srgbClr val="CFC6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92440" y="4663440"/>
            <a:ext cx="91440" cy="91440"/>
          </a:xfrm>
          <a:prstGeom prst="ellipse">
            <a:avLst/>
          </a:prstGeom>
          <a:solidFill>
            <a:srgbClr val="CFC6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5320" y="4663440"/>
            <a:ext cx="91440" cy="91440"/>
          </a:xfrm>
          <a:prstGeom prst="ellipse">
            <a:avLst/>
          </a:prstGeom>
          <a:solidFill>
            <a:srgbClr val="CFC6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5669279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7C7470"/>
                </a:solidFill>
                <a:latin typeface="DM Sans"/>
                <a:ea typeface="DM Sans"/>
                <a:cs typeface="DM Sans"/>
              </a:rPr>
              <a:t>Illustrative conversation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1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49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57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5" grpId="0" animBg="1"/>
      <p:bldP spid="19" grpId="0" animBg="1"/>
      <p:bldP spid="20" grpId="0" animBg="1"/>
      <p:bldP spid="6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7" grpId="0" animBg="1"/>
      <p:bldP spid="29" grpId="0" animBg="1"/>
      <p:bldP spid="30" grpId="0" animBg="1"/>
      <p:bldP spid="8" grpId="0" animBg="1"/>
      <p:bldP spid="31" grpId="0" animBg="1"/>
      <p:bldP spid="9" grpId="0" animBg="1"/>
      <p:bldP spid="12" grpId="0" animBg="1"/>
      <p:bldP spid="15" grpId="0" animBg="1"/>
      <p:bldP spid="10" grpId="0" animBg="1"/>
      <p:bldP spid="13" grpId="0" animBg="1"/>
      <p:bldP spid="16" grpId="0" animBg="1"/>
      <p:bldP spid="32" grpId="0" animBg="1"/>
      <p:bldP spid="33" grpId="0" animBg="1"/>
      <p:bldP spid="34" grpId="0" animBg="1"/>
      <p:bldP spid="11" grpId="0" animBg="1"/>
      <p:bldP spid="14" grpId="0" animBg="1"/>
      <p:bldP spid="17" grpId="0" animBg="1"/>
      <p:bldP spid="3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rome"/>
          <p:cNvSpPr txBox="1"/>
          <p:nvPr/>
        </p:nvSpPr>
        <p:spPr>
          <a:xfrm>
            <a:off x="777240" y="6355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5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BELLA  ·  RED FLAG HOMES</a:t>
            </a:r>
          </a:p>
        </p:txBody>
      </p:sp>
      <p:sp>
        <p:nvSpPr>
          <p:cNvPr id="4" name="chrome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5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EVERYTHING HANDLED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Everything your listing needs, handled.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393338" cy="1783080"/>
          </a:xfrm>
          <a:prstGeom prst="roundRect">
            <a:avLst>
              <a:gd name="adj" fmla="val 8000"/>
            </a:avLst>
          </a:prstGeom>
          <a:solidFill>
            <a:srgbClr val="141215"/>
          </a:solidFill>
          <a:ln w="9525">
            <a:solidFill>
              <a:srgbClr val="2E2A2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tatic-art" descr="i_rep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331720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19" y="2359152"/>
            <a:ext cx="23874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0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Instant guest replies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953512"/>
            <a:ext cx="280812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Answers every guest in seconds, day or night, in 50+ languages including Hinglish.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057400"/>
            <a:ext cx="3393338" cy="1783080"/>
          </a:xfrm>
          <a:prstGeom prst="roundRect">
            <a:avLst>
              <a:gd name="adj" fmla="val 8000"/>
            </a:avLst>
          </a:prstGeom>
          <a:solidFill>
            <a:srgbClr val="141215"/>
          </a:solidFill>
          <a:ln w="9525">
            <a:solidFill>
              <a:srgbClr val="2E2A2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tatic-art" descr="i_pr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786" y="2331720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67858" y="2359152"/>
            <a:ext cx="23874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0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Smart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1786" y="2953512"/>
            <a:ext cx="280812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Adjusts your nightly rates for weekends, festivals and demand.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1116" y="2057400"/>
            <a:ext cx="3393338" cy="1783080"/>
          </a:xfrm>
          <a:prstGeom prst="roundRect">
            <a:avLst>
              <a:gd name="adj" fmla="val 8000"/>
            </a:avLst>
          </a:prstGeom>
          <a:solidFill>
            <a:srgbClr val="141215"/>
          </a:solidFill>
          <a:ln w="9525">
            <a:solidFill>
              <a:srgbClr val="2E2A2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tatic-art" descr="i_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3724" y="2331720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89796" y="2359152"/>
            <a:ext cx="23874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0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Automatic check-in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724" y="2953512"/>
            <a:ext cx="280812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Sends every guest their check-in details on time, every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3393338" cy="1783080"/>
          </a:xfrm>
          <a:prstGeom prst="roundRect">
            <a:avLst>
              <a:gd name="adj" fmla="val 8000"/>
            </a:avLst>
          </a:prstGeom>
          <a:solidFill>
            <a:srgbClr val="141215"/>
          </a:solidFill>
          <a:ln w="9525">
            <a:solidFill>
              <a:srgbClr val="2E2A2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static-art" descr="i_c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4343400"/>
            <a:ext cx="438912" cy="438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5919" y="4370832"/>
            <a:ext cx="23874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0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Calendar blocking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65192"/>
            <a:ext cx="280812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Blocks your dates for you, so no double bookings.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9178" y="4069080"/>
            <a:ext cx="3393338" cy="1783080"/>
          </a:xfrm>
          <a:prstGeom prst="roundRect">
            <a:avLst>
              <a:gd name="adj" fmla="val 8000"/>
            </a:avLst>
          </a:prstGeom>
          <a:solidFill>
            <a:srgbClr val="141215"/>
          </a:solidFill>
          <a:ln w="9525">
            <a:solidFill>
              <a:srgbClr val="2E2A2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static-art" descr="i_aud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1786" y="4343400"/>
            <a:ext cx="438912" cy="4389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7858" y="4370832"/>
            <a:ext cx="23874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0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A to Z listing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1786" y="4965192"/>
            <a:ext cx="280812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Reviews photos, title, description and settings, then fixes the gaps.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1116" y="4069080"/>
            <a:ext cx="3393338" cy="1783080"/>
          </a:xfrm>
          <a:prstGeom prst="roundRect">
            <a:avLst>
              <a:gd name="adj" fmla="val 8000"/>
            </a:avLst>
          </a:prstGeom>
          <a:solidFill>
            <a:srgbClr val="141215"/>
          </a:solidFill>
          <a:ln w="9525">
            <a:solidFill>
              <a:srgbClr val="2E2A2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static-art" descr="i_coh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3724" y="4343400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89796" y="4370832"/>
            <a:ext cx="23874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0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Co-Host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3724" y="4965192"/>
            <a:ext cx="280812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Want anything else? Just type it to Bella in the Co-Host section and it’s done.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080760"/>
            <a:ext cx="548640" cy="9144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5989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Zero setup hassle.  Live in 3 clicks.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59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6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77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8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79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013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22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31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55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67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776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9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88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994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900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103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212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321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3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15" grpId="0" animBg="1"/>
      <p:bldP spid="9" grpId="0" animBg="1"/>
      <p:bldP spid="13" grpId="0" animBg="1"/>
      <p:bldP spid="17" grpId="0" animBg="1"/>
      <p:bldP spid="10" grpId="0" animBg="1"/>
      <p:bldP spid="14" grpId="0" animBg="1"/>
      <p:bldP spid="18" grpId="0" animBg="1"/>
      <p:bldP spid="19" grpId="0" animBg="1"/>
      <p:bldP spid="23" grpId="0" animBg="1"/>
      <p:bldP spid="27" grpId="0" animBg="1"/>
      <p:bldP spid="21" grpId="0" animBg="1"/>
      <p:bldP spid="25" grpId="0" animBg="1"/>
      <p:bldP spid="29" grpId="0" animBg="1"/>
      <p:bldP spid="22" grpId="0" animBg="1"/>
      <p:bldP spid="26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rome"/>
          <p:cNvSpPr txBox="1"/>
          <p:nvPr/>
        </p:nvSpPr>
        <p:spPr>
          <a:xfrm>
            <a:off x="777240" y="6355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50">
                <a:solidFill>
                  <a:srgbClr val="7C7470"/>
                </a:solidFill>
                <a:latin typeface="DM Sans"/>
                <a:ea typeface="DM Sans"/>
                <a:cs typeface="DM Sans"/>
              </a:rPr>
              <a:t>BELLA  ·  RED FLAG HOMES</a:t>
            </a:r>
          </a:p>
        </p:txBody>
      </p:sp>
      <p:sp>
        <p:nvSpPr>
          <p:cNvPr id="4" name="chrome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04 / 06</a:t>
            </a:r>
          </a:p>
        </p:txBody>
      </p:sp>
      <p:pic>
        <p:nvPicPr>
          <p:cNvPr id="5" name="static-art" descr="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4864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1188720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 spc="35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THE BRAIN BEHIND BELLA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96596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200" b="0" i="0">
                <a:solidFill>
                  <a:srgbClr val="0B0A0C"/>
                </a:solidFill>
                <a:latin typeface="Cormorant Garamond"/>
                <a:ea typeface="DM Sans"/>
                <a:cs typeface="DM Sans"/>
              </a:rPr>
              <a:t>Powered by GPT-5.6 Sol.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47207" y="3429000"/>
            <a:ext cx="1097280" cy="9144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683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A4346"/>
                </a:solidFill>
                <a:latin typeface="DM Sans"/>
                <a:ea typeface="DM Sans"/>
                <a:cs typeface="DM Sans"/>
              </a:rPr>
              <a:t>The most powerful AI model in the world right now, working only for your bnb.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4348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400" b="0" i="1">
                <a:solidFill>
                  <a:srgbClr val="0B0A0C"/>
                </a:solidFill>
                <a:latin typeface="Cormorant Garamond"/>
                <a:ea typeface="DM Sans"/>
                <a:cs typeface="DM Sans"/>
              </a:rPr>
              <a:t>Smarter replies.  Better pricing decisions.  Fewer mistakes.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rome"/>
          <p:cNvSpPr txBox="1"/>
          <p:nvPr/>
        </p:nvSpPr>
        <p:spPr>
          <a:xfrm>
            <a:off x="777240" y="6355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5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BELLA  ·  RED FLAG HOMES</a:t>
            </a:r>
          </a:p>
        </p:txBody>
      </p:sp>
      <p:sp>
        <p:nvSpPr>
          <p:cNvPr id="4" name="chrome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5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No commission. Just one yearly fee.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4206240" cy="3017520"/>
          </a:xfrm>
          <a:prstGeom prst="roundRect">
            <a:avLst>
              <a:gd name="adj" fmla="val 8000"/>
            </a:avLst>
          </a:prstGeom>
          <a:solidFill>
            <a:srgbClr val="141215"/>
          </a:solidFill>
          <a:ln w="9525">
            <a:solidFill>
              <a:srgbClr val="2E2A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5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REGULAR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0" i="0" strike="sngStrike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₹4,999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94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per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4297679"/>
            <a:ext cx="3474720" cy="9144"/>
          </a:xfrm>
          <a:prstGeom prst="rect">
            <a:avLst/>
          </a:prstGeom>
          <a:solidFill>
            <a:srgbClr val="2E2A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4348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Up to 2 listings
48-hour free trial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920240"/>
            <a:ext cx="4480560" cy="356616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 w="15875">
            <a:solidFill>
              <a:srgbClr val="C9A66B"/>
            </a:solidFill>
          </a:ln>
          <a:effectLst>
            <a:glow rad="279400">
              <a:srgbClr val="C8102E">
                <a:alpha val="28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331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50">
                <a:solidFill>
                  <a:srgbClr val="F3DFAE"/>
                </a:solidFill>
                <a:latin typeface="DM Sans"/>
                <a:ea typeface="DM Sans"/>
                <a:cs typeface="DM Sans"/>
              </a:rPr>
              <a:t>FESTIVE OFFER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6974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₹2,999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840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per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4343400"/>
            <a:ext cx="3657600" cy="9144"/>
          </a:xfrm>
          <a:prstGeom prst="rect">
            <a:avLst/>
          </a:prstGeom>
          <a:solidFill>
            <a:srgbClr val="E7A3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Up to 2 listings
48-hour free trial</a:t>
            </a:r>
          </a:p>
        </p:txBody>
      </p:sp>
      <p:pic>
        <p:nvPicPr>
          <p:cNvPr id="19" name="static-art" descr="o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828800"/>
            <a:ext cx="1828800" cy="1828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12680" y="3749039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Exclusive to Red Flag’s first clients.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Cancel anytime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724144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4EFE8"/>
                </a:solidFill>
                <a:latin typeface="DM Sans"/>
                <a:ea typeface="DM Sans"/>
                <a:cs typeface="DM Sans"/>
              </a:rPr>
              <a:t>That’s about ₹125 a month per listing with two listings. Start with a 48-hour free trial.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4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7" grpId="0" animBg="1"/>
      <p:bldP spid="14" grpId="0" animBg="1"/>
      <p:bldP spid="8" grpId="0" animBg="1"/>
      <p:bldP spid="15" grpId="0" animBg="1"/>
      <p:bldP spid="9" grpId="0" animBg="1"/>
      <p:bldP spid="10" grpId="0" animBg="1"/>
      <p:bldP spid="16" grpId="0" animBg="1"/>
      <p:bldP spid="20" grpId="0" animBg="1"/>
      <p:bldP spid="11" grpId="0" animBg="1"/>
      <p:bldP spid="12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777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35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HOW TO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 i="0">
                <a:solidFill>
                  <a:srgbClr val="0B0A0C"/>
                </a:solidFill>
                <a:latin typeface="Cormorant Garamond"/>
                <a:ea typeface="DM Sans"/>
                <a:cs typeface="DM Sans"/>
              </a:rPr>
              <a:t>Three steps. Then Bella takes 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393338" cy="2377440"/>
          </a:xfrm>
          <a:prstGeom prst="roundRect">
            <a:avLst>
              <a:gd name="adj" fmla="val 8000"/>
            </a:avLst>
          </a:prstGeom>
          <a:solidFill>
            <a:srgbClr val="FBF8F3"/>
          </a:solidFill>
          <a:ln w="9525">
            <a:solidFill>
              <a:srgbClr val="DDD3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C9A66B"/>
                </a:solidFill>
                <a:latin typeface="Cormorant Garamond"/>
                <a:ea typeface="DM Sans"/>
                <a:cs typeface="DM Sans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246120"/>
            <a:ext cx="2753258" cy="9144"/>
          </a:xfrm>
          <a:prstGeom prst="rect">
            <a:avLst/>
          </a:prstGeom>
          <a:solidFill>
            <a:srgbClr val="DDD3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0B0A0C"/>
                </a:solidFill>
                <a:latin typeface="Cormorant Garamond"/>
                <a:ea typeface="DM Sans"/>
                <a:cs typeface="DM Sans"/>
              </a:rPr>
              <a:t>Start your free 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67912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346"/>
                </a:solidFill>
                <a:latin typeface="DM Sans"/>
                <a:ea typeface="DM Sans"/>
                <a:cs typeface="DM Sans"/>
              </a:rPr>
              <a:t>48 hours free, up to 2 listings. Cancel anytime.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2148840"/>
            <a:ext cx="3393338" cy="2377440"/>
          </a:xfrm>
          <a:prstGeom prst="roundRect">
            <a:avLst>
              <a:gd name="adj" fmla="val 8000"/>
            </a:avLst>
          </a:prstGeom>
          <a:solidFill>
            <a:srgbClr val="FBF8F3"/>
          </a:solidFill>
          <a:ln w="9525">
            <a:solidFill>
              <a:srgbClr val="DDD3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9218" y="237744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C9A66B"/>
                </a:solidFill>
                <a:latin typeface="Cormorant Garamond"/>
                <a:ea typeface="DM Sans"/>
                <a:cs typeface="DM Sans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19218" y="3246120"/>
            <a:ext cx="2753258" cy="9144"/>
          </a:xfrm>
          <a:prstGeom prst="rect">
            <a:avLst/>
          </a:prstGeom>
          <a:solidFill>
            <a:srgbClr val="DDD3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218" y="3383280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0B0A0C"/>
                </a:solidFill>
                <a:latin typeface="Cormorant Garamond"/>
                <a:ea typeface="DM Sans"/>
                <a:cs typeface="DM Sans"/>
              </a:rPr>
              <a:t>Add Bella as co-host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9218" y="3867912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346"/>
                </a:solidFill>
                <a:latin typeface="DM Sans"/>
                <a:ea typeface="DM Sans"/>
                <a:cs typeface="DM Sans"/>
              </a:rPr>
              <a:t>Invite her with full access: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9218" y="4160520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0B0A0C"/>
          </a:solidFill>
          <a:ln w="9525">
            <a:solidFill>
              <a:srgbClr val="C9A6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9218" y="420624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4EFE8"/>
                </a:solidFill>
                <a:latin typeface="DM Sans"/>
                <a:ea typeface="DM Sans"/>
                <a:cs typeface="DM Sans"/>
              </a:rPr>
              <a:t>bella@redflaghomes.in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1116" y="2148840"/>
            <a:ext cx="3393338" cy="2377440"/>
          </a:xfrm>
          <a:prstGeom prst="roundRect">
            <a:avLst>
              <a:gd name="adj" fmla="val 8000"/>
            </a:avLst>
          </a:prstGeom>
          <a:solidFill>
            <a:srgbClr val="FBF8F3"/>
          </a:solidFill>
          <a:ln w="9525">
            <a:solidFill>
              <a:srgbClr val="DDD3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1156" y="237744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C9A66B"/>
                </a:solidFill>
                <a:latin typeface="Cormorant Garamond"/>
                <a:ea typeface="DM Sans"/>
                <a:cs typeface="DM Sans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41156" y="3246120"/>
            <a:ext cx="2753258" cy="9144"/>
          </a:xfrm>
          <a:prstGeom prst="rect">
            <a:avLst/>
          </a:prstGeom>
          <a:solidFill>
            <a:srgbClr val="DDD3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1156" y="3383280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0B0A0C"/>
                </a:solidFill>
                <a:latin typeface="Cormorant Garamond"/>
                <a:ea typeface="DM Sans"/>
                <a:cs typeface="DM Sans"/>
              </a:rPr>
              <a:t>Save. Done.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1156" y="3867912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346"/>
                </a:solidFill>
                <a:latin typeface="DM Sans"/>
                <a:ea typeface="DM Sans"/>
                <a:cs typeface="DM Sans"/>
              </a:rPr>
              <a:t>Bella now manages everything.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0B0A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static-art" descr="o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1463040" cy="1463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40280" y="525780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 i="1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Your guests don’t wait.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7607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8890"/>
                </a:solidFill>
                <a:latin typeface="DM Sans"/>
                <a:ea typeface="DM Sans"/>
                <a:cs typeface="DM Sans"/>
              </a:rPr>
              <a:t>Neither should your bnb. Try Bella free for 48 hours.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88375" y="5349240"/>
            <a:ext cx="2926080" cy="65836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9525">
            <a:solidFill>
              <a:srgbClr val="C8102E"/>
            </a:solidFill>
          </a:ln>
          <a:effectLst>
            <a:glow rad="177800">
              <a:srgbClr val="C8102E">
                <a:alpha val="3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8375" y="5538089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Get Bella  →</a:t>
            </a:r>
          </a:p>
        </p:txBody>
      </p:sp>
      <p:sp>
        <p:nvSpPr>
          <p:cNvPr id="3" name="chrome"/>
          <p:cNvSpPr txBox="1"/>
          <p:nvPr/>
        </p:nvSpPr>
        <p:spPr>
          <a:xfrm>
            <a:off x="777240" y="6355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 spc="350">
                <a:solidFill>
                  <a:srgbClr val="7C7470"/>
                </a:solidFill>
                <a:latin typeface="DM Sans"/>
                <a:ea typeface="DM Sans"/>
                <a:cs typeface="DM Sans"/>
              </a:rPr>
              <a:t>BELLA  ·  RED FLAG HOMES</a:t>
            </a:r>
          </a:p>
        </p:txBody>
      </p:sp>
      <p:sp>
        <p:nvSpPr>
          <p:cNvPr id="4" name="chrome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C9A66B"/>
                </a:solidFill>
                <a:latin typeface="DM Sans"/>
                <a:ea typeface="DM Sans"/>
                <a:cs typeface="DM Sans"/>
              </a:rPr>
              <a:t>06 / 06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900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2" grpId="0" animBg="1"/>
      <p:bldP spid="13" grpId="0" animBg="1"/>
      <p:bldP spid="19" grpId="0" animBg="1"/>
      <p:bldP spid="20" grpId="0" animBg="1"/>
      <p:bldP spid="9" grpId="0" animBg="1"/>
      <p:bldP spid="14" grpId="0" animBg="1"/>
      <p:bldP spid="21" grpId="0" animBg="1"/>
      <p:bldP spid="10" grpId="0" animBg="1"/>
      <p:bldP spid="15" grpId="0" animBg="1"/>
      <p:bldP spid="22" grpId="0" animBg="1"/>
      <p:bldP spid="11" grpId="0" animBg="1"/>
      <p:bldP spid="16" grpId="0" animBg="1"/>
      <p:bldP spid="23" grpId="0" animBg="1"/>
      <p:bldP spid="17" grpId="0" animBg="1"/>
      <p:bldP spid="18" grpId="0" animBg="1"/>
      <p:bldP spid="24" grpId="0" animBg="1"/>
      <p:bldP spid="26" grpId="0" animBg="1"/>
      <p:bldP spid="28" grpId="0" animBg="1"/>
      <p:bldP spid="29" grpId="0" animBg="1"/>
      <p:bldP spid="2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